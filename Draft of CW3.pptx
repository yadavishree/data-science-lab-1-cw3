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8"/>
  </p:notesMasterIdLst>
  <p:sldIdLst>
    <p:sldId id="268" r:id="rId5"/>
    <p:sldId id="310" r:id="rId6"/>
    <p:sldId id="311" r:id="rId7"/>
    <p:sldId id="312" r:id="rId8"/>
    <p:sldId id="315" r:id="rId9"/>
    <p:sldId id="313" r:id="rId10"/>
    <p:sldId id="314" r:id="rId11"/>
    <p:sldId id="316" r:id="rId12"/>
    <p:sldId id="317" r:id="rId13"/>
    <p:sldId id="318" r:id="rId14"/>
    <p:sldId id="319" r:id="rId15"/>
    <p:sldId id="320" r:id="rId16"/>
    <p:sldId id="32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8" autoAdjust="0"/>
  </p:normalViewPr>
  <p:slideViewPr>
    <p:cSldViewPr snapToGrid="0">
      <p:cViewPr varScale="1">
        <p:scale>
          <a:sx n="83" d="100"/>
          <a:sy n="83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37E761-5927-417F-B4DB-5A73D6BA7B6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ED4F54-B1E7-4A55-AE61-9B4752BB8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268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ED4F54-B1E7-4A55-AE61-9B4752BB869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9808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ED4F54-B1E7-4A55-AE61-9B4752BB869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689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Strong positive correlation (0.94) between depression and anxiety scores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ED4F54-B1E7-4A55-AE61-9B4752BB869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437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1202+798=2000 prediction on test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ED4F54-B1E7-4A55-AE61-9B4752BB869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111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ED4F54-B1E7-4A55-AE61-9B4752BB869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692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bar chart shows what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drives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treatment-seeking behavior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model suggests low mental health risk individuals are actually most likely to seek treatment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ED4F54-B1E7-4A55-AE61-9B4752BB869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8436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Behaviour</a:t>
            </a:r>
            <a:r>
              <a:rPr lang="en-US" dirty="0"/>
              <a:t> likely influenced by multivariate interactions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ED4F54-B1E7-4A55-AE61-9B4752BB869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7121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 leakage affected </a:t>
            </a:r>
            <a:r>
              <a:rPr lang="en-US" dirty="0" err="1"/>
              <a:t>performanceSelf</a:t>
            </a:r>
            <a:r>
              <a:rPr lang="en-US" dirty="0"/>
              <a:t>-reported data </a:t>
            </a:r>
            <a:r>
              <a:rPr lang="en-US" dirty="0" err="1"/>
              <a:t>biasDataset</a:t>
            </a:r>
            <a:r>
              <a:rPr lang="en-US" dirty="0"/>
              <a:t> may not </a:t>
            </a:r>
            <a:r>
              <a:rPr lang="en-US" dirty="0" err="1"/>
              <a:t>generalizeFuture</a:t>
            </a:r>
            <a:r>
              <a:rPr lang="en-US" dirty="0"/>
              <a:t>: Random Forest </a:t>
            </a:r>
            <a:r>
              <a:rPr lang="en-US" dirty="0" err="1"/>
              <a:t>comparisonFuture</a:t>
            </a:r>
            <a:r>
              <a:rPr lang="en-US" dirty="0"/>
              <a:t>: Leakage-free pipeline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ED4F54-B1E7-4A55-AE61-9B4752BB869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0016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features – cultural and financial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ED4F54-B1E7-4A55-AE61-9B4752BB869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53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2/14/2026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2/14/2026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2/14/2026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2/14/2026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2/14/2026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2/14/2026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2/14/2026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2/14/2026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5573" y="1062710"/>
            <a:ext cx="6253317" cy="2826383"/>
          </a:xfrm>
        </p:spPr>
        <p:txBody>
          <a:bodyPr>
            <a:noAutofit/>
          </a:bodyPr>
          <a:lstStyle/>
          <a:p>
            <a:r>
              <a:rPr lang="en-US" sz="4400" dirty="0"/>
              <a:t>Mental health analysis</a:t>
            </a:r>
            <a:br>
              <a:rPr lang="en-US" sz="4400" dirty="0"/>
            </a:br>
            <a:r>
              <a:rPr lang="en-US" sz="4400" dirty="0"/>
              <a:t>module code: 4FTC2113</a:t>
            </a:r>
            <a:br>
              <a:rPr lang="en-US" sz="4400" dirty="0"/>
            </a:b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Student ID:25001700</a:t>
            </a:r>
          </a:p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NAME: Yadavi Shreedhar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08AC96E-AA33-4309-B51D-072F59E6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6686" y="1"/>
            <a:ext cx="463531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6CB32-901A-4DA0-AA8A-9A7B5A88B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FA0D82-331B-DBF8-789F-F0F562D0C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Many individuals experience mental distress but do not seek treatment. Understanding predictors can improve early intervention can be framed as a binary classification problem.</a:t>
            </a:r>
          </a:p>
          <a:p>
            <a:r>
              <a:rPr lang="en-US" b="1" dirty="0"/>
              <a:t>Business Problem</a:t>
            </a:r>
            <a:r>
              <a:rPr lang="en-US" dirty="0"/>
              <a:t>: Identify at-risk employees for workplace interventions</a:t>
            </a:r>
          </a:p>
          <a:p>
            <a:r>
              <a:rPr lang="en-US" b="1" dirty="0"/>
              <a:t>Approach</a:t>
            </a:r>
            <a:r>
              <a:rPr lang="en-US" dirty="0"/>
              <a:t>: Binary classification using Logistic Regression</a:t>
            </a:r>
          </a:p>
          <a:p>
            <a:pPr lvl="0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546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9FDFD-5D90-1CEB-E9A0-262DDB44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AB6A6-6C04-C152-6EA8-D249A1288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dirty="0"/>
              <a:t>10,000 observations</a:t>
            </a:r>
          </a:p>
          <a:p>
            <a:pPr lvl="0"/>
            <a:r>
              <a:rPr lang="en-US" dirty="0"/>
              <a:t>Demographic + psychological + lifestyle features</a:t>
            </a:r>
          </a:p>
          <a:p>
            <a:pPr lvl="0"/>
            <a:r>
              <a:rPr lang="en-US" dirty="0"/>
              <a:t>Binary target (Yes/No)</a:t>
            </a:r>
          </a:p>
          <a:p>
            <a:r>
              <a:rPr lang="en-US" b="1" dirty="0"/>
              <a:t>Target Variable</a:t>
            </a:r>
            <a:r>
              <a:rPr lang="en-US" dirty="0"/>
              <a:t>: seeks_treatment (Yes/No)</a:t>
            </a:r>
          </a:p>
          <a:p>
            <a:r>
              <a:rPr lang="en-US" b="1" dirty="0"/>
              <a:t>Key Features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Depression score, Anxiety score</a:t>
            </a:r>
          </a:p>
          <a:p>
            <a:pPr lvl="1"/>
            <a:r>
              <a:rPr lang="en-US" dirty="0"/>
              <a:t>Stress level, Sleep hours</a:t>
            </a:r>
          </a:p>
          <a:p>
            <a:pPr lvl="1"/>
            <a:r>
              <a:rPr lang="en-US" dirty="0"/>
              <a:t>Social support score</a:t>
            </a:r>
          </a:p>
          <a:p>
            <a:pPr lvl="1"/>
            <a:r>
              <a:rPr lang="en-US" dirty="0"/>
              <a:t>Work environment, Gender</a:t>
            </a:r>
          </a:p>
          <a:p>
            <a:pPr lvl="0"/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DA0821-174A-0898-9183-C6709DD1E2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0829"/>
          <a:stretch>
            <a:fillRect/>
          </a:stretch>
        </p:blipFill>
        <p:spPr>
          <a:xfrm>
            <a:off x="6511145" y="2384384"/>
            <a:ext cx="4583575" cy="2546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062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F318F-3097-B1FE-F6C8-C28751714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 and 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41905-1424-A577-8657-879DD9DEB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7400" dirty="0"/>
              <a:t>Verified no missing values </a:t>
            </a:r>
          </a:p>
          <a:p>
            <a:r>
              <a:rPr lang="en-US" sz="7400" dirty="0"/>
              <a:t>Encoded categorical variables (one-hot encoding)</a:t>
            </a:r>
          </a:p>
          <a:p>
            <a:r>
              <a:rPr lang="en-US" sz="7400" dirty="0"/>
              <a:t>Feature engineering:</a:t>
            </a:r>
          </a:p>
          <a:p>
            <a:pPr lvl="1"/>
            <a:r>
              <a:rPr lang="en-US" sz="7400" dirty="0" err="1"/>
              <a:t>mental_health_composite</a:t>
            </a:r>
            <a:r>
              <a:rPr lang="en-US" sz="7400" dirty="0"/>
              <a:t> = depression + anxiety - </a:t>
            </a:r>
            <a:r>
              <a:rPr lang="en-US" sz="7400" dirty="0" err="1"/>
              <a:t>social_support</a:t>
            </a:r>
            <a:endParaRPr lang="en-US" sz="7400" dirty="0"/>
          </a:p>
          <a:p>
            <a:pPr lvl="1"/>
            <a:r>
              <a:rPr lang="en-US" sz="7400" dirty="0" err="1"/>
              <a:t>stress_category</a:t>
            </a:r>
            <a:r>
              <a:rPr lang="en-US" sz="7400" dirty="0"/>
              <a:t> (Low/Medium/High)</a:t>
            </a:r>
          </a:p>
          <a:p>
            <a:r>
              <a:rPr lang="en-US" sz="7400" dirty="0"/>
              <a:t>Outlier treatment </a:t>
            </a:r>
          </a:p>
          <a:p>
            <a:r>
              <a:rPr lang="en-US" sz="7400" dirty="0"/>
              <a:t>Train-test split (80/20 with stratification)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516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1B83E-B1A4-A9AC-2ED1-9CF84F3D2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9A442-2CD8-F1E8-F72A-6BB12B19D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77649"/>
            <a:ext cx="10058400" cy="3760891"/>
          </a:xfrm>
        </p:spPr>
        <p:txBody>
          <a:bodyPr>
            <a:normAutofit lnSpcReduction="10000"/>
          </a:bodyPr>
          <a:lstStyle/>
          <a:p>
            <a:pPr lvl="0"/>
            <a:r>
              <a:rPr lang="en-US" dirty="0"/>
              <a:t>Logistic Regression classifier</a:t>
            </a:r>
          </a:p>
          <a:p>
            <a:pPr lvl="0"/>
            <a:r>
              <a:rPr lang="en-US" dirty="0"/>
              <a:t>80/20 stratified split</a:t>
            </a:r>
          </a:p>
          <a:p>
            <a:pPr lvl="0"/>
            <a:r>
              <a:rPr lang="en-US" dirty="0"/>
              <a:t>Balanced class weights to address class imbalance</a:t>
            </a:r>
          </a:p>
          <a:p>
            <a:pPr lvl="0"/>
            <a:r>
              <a:rPr lang="en-US" dirty="0"/>
              <a:t>Evaluated using Accuracy, ROC-AUC, Confusion Matrix</a:t>
            </a:r>
          </a:p>
          <a:p>
            <a:pPr lvl="0"/>
            <a:r>
              <a:rPr lang="en-US" dirty="0"/>
              <a:t>Why?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Interpretable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Probabilistic output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Efficient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Baseline model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591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1CCA1-F80B-63E9-4B64-7D486F8B4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Distribution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D63B04-7BD2-7DD2-1015-69D0072E8A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275198" y="2061901"/>
            <a:ext cx="7521576" cy="37607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E21BC2-A9B1-6F9F-40AF-934154D76E42}"/>
              </a:ext>
            </a:extLst>
          </p:cNvPr>
          <p:cNvSpPr txBox="1"/>
          <p:nvPr/>
        </p:nvSpPr>
        <p:spPr>
          <a:xfrm>
            <a:off x="821803" y="2314937"/>
            <a:ext cx="311358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Training : 4,800 No (60%), 3,200 Yes (40%)</a:t>
            </a:r>
          </a:p>
          <a:p>
            <a:endParaRPr lang="en-US" dirty="0"/>
          </a:p>
          <a:p>
            <a:r>
              <a:rPr lang="en-US" dirty="0"/>
              <a:t>Testing : 1,200 No (60%), 800 Yes (40%)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696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6C52B-3497-CC2C-C4D4-17EBCBB34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Matrix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45F129-A5B2-E448-7AC7-1CDF2C60CC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07534" y="2108200"/>
            <a:ext cx="7199453" cy="3760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795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3DE4D-5223-D7A1-1ADA-9E63A6755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2B96E1-0BC5-49F8-A9B4-CE3A4E92EB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92173" y="2108200"/>
            <a:ext cx="6267980" cy="3760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671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D82F7-5863-AD37-21D4-4A51C268C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curve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4C6EC0-9D7C-3848-7438-6A0697E129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92173" y="2108200"/>
            <a:ext cx="6267980" cy="3760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672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CEFFB-7834-6571-DE9E-7F38933ED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Importance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3A949DF-D868-CDDB-C764-A38B05BDD9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92173" y="2108200"/>
            <a:ext cx="6267980" cy="3760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22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77E34-32EE-2EFA-59CA-C1E506B36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2710B-2CEC-EB07-684F-7F0E6625E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Perfect performance indicated target leakage</a:t>
            </a:r>
          </a:p>
          <a:p>
            <a:r>
              <a:rPr lang="en-US" dirty="0"/>
              <a:t>Critical model validation is required</a:t>
            </a:r>
          </a:p>
          <a:p>
            <a:r>
              <a:rPr lang="en-US" dirty="0"/>
              <a:t>Weak individual correlations are observed.</a:t>
            </a:r>
          </a:p>
          <a:p>
            <a:r>
              <a:rPr lang="en-US" dirty="0"/>
              <a:t>Behavior likely influenced by multivariate interactions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9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092C-CD22-0E0C-DC60-2232954BE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suggestions and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93F6-5C95-AA12-69D5-699B4F54D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dirty="0"/>
              <a:t>Target leakage affected performance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dirty="0"/>
              <a:t>Self-reported data bias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dirty="0"/>
              <a:t>Dataset may not generalize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dirty="0"/>
              <a:t>Future: Random Forest comparison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dirty="0"/>
              <a:t>Future: Leakage-free pipeline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910C4B-C065-C32C-8D0D-1AA298592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5" name="Picture 3" descr="Managing Your Mental Health | Holy Cross Health Fort Lauderdale, Florida  (FL) Hospitals">
            <a:extLst>
              <a:ext uri="{FF2B5EF4-FFF2-40B4-BE49-F238E27FC236}">
                <a16:creationId xmlns:a16="http://schemas.microsoft.com/office/drawing/2014/main" id="{FA5C8C26-5D62-B1B5-94C6-3DED98046D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7680" y="2189646"/>
            <a:ext cx="3598000" cy="359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0737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5C93F-4925-A76B-D1EE-6FFED2D33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CC968-79FC-49B6-7B7B-9F8105CD8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Built an  interpretable model with 100% accuracy</a:t>
            </a:r>
          </a:p>
          <a:p>
            <a:pPr marL="0" indent="0">
              <a:buNone/>
            </a:pPr>
            <a:r>
              <a:rPr lang="en-US" dirty="0"/>
              <a:t>Perfect performance revealed data leakage.</a:t>
            </a:r>
          </a:p>
          <a:p>
            <a:pPr marL="0" indent="0">
              <a:buNone/>
            </a:pPr>
            <a:r>
              <a:rPr lang="en-US" dirty="0"/>
              <a:t>Model validation is important than high accuracy</a:t>
            </a:r>
          </a:p>
          <a:p>
            <a:pPr marL="0" indent="0">
              <a:buNone/>
            </a:pPr>
            <a:r>
              <a:rPr lang="en-US"/>
              <a:t>Actionable </a:t>
            </a:r>
            <a:r>
              <a:rPr lang="en-US" dirty="0"/>
              <a:t>insights for workplace mental health programs</a:t>
            </a:r>
          </a:p>
          <a:p>
            <a:pPr marL="0" indent="0">
              <a:buNone/>
            </a:pPr>
            <a:r>
              <a:rPr lang="en-US" dirty="0"/>
              <a:t>Future work: Try Random Forest, which includes more features and has more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771576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ppt/theme/themeOverride2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5B1FD9-3BB6-4DA9-A089-3B68C2323D4F}">
  <ds:schemaRefs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16c05727-aa75-4e4a-9b5f-8a80a1165891"/>
    <ds:schemaRef ds:uri="http://schemas.microsoft.com/office/infopath/2007/PartnerControls"/>
    <ds:schemaRef ds:uri="71af3243-3dd4-4a8d-8c0d-dd76da1f02a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47A963-53E0-44AF-AF13-963FE676C6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192</TotalTime>
  <Words>396</Words>
  <Application>Microsoft Office PowerPoint</Application>
  <PresentationFormat>Widescreen</PresentationFormat>
  <Paragraphs>82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Bookman Old Style</vt:lpstr>
      <vt:lpstr>Calibri</vt:lpstr>
      <vt:lpstr>Franklin Gothic Book</vt:lpstr>
      <vt:lpstr>1_RetrospectVTI</vt:lpstr>
      <vt:lpstr>Mental health analysis module code: 4FTC2113 </vt:lpstr>
      <vt:lpstr>Introduction</vt:lpstr>
      <vt:lpstr>Dataset overview</vt:lpstr>
      <vt:lpstr>Data preprocessing and feature engineering</vt:lpstr>
      <vt:lpstr>Logistic regression</vt:lpstr>
      <vt:lpstr>Class Distribution</vt:lpstr>
      <vt:lpstr>Correlation Matrix</vt:lpstr>
      <vt:lpstr>Confusion Matrix</vt:lpstr>
      <vt:lpstr>ROC curve</vt:lpstr>
      <vt:lpstr>Feature Importance </vt:lpstr>
      <vt:lpstr>Key insights</vt:lpstr>
      <vt:lpstr>Future suggestions and Limitations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Yadavi Shreedhar</dc:creator>
  <cp:lastModifiedBy>Yadavi Shreedhar</cp:lastModifiedBy>
  <cp:revision>57</cp:revision>
  <dcterms:created xsi:type="dcterms:W3CDTF">2026-02-14T05:44:45Z</dcterms:created>
  <dcterms:modified xsi:type="dcterms:W3CDTF">2026-02-14T10:53:03Z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